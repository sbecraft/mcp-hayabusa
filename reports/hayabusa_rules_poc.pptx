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54864" cy="54864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3" name="Shape 1"/>
          <p:cNvSpPr/>
          <p:nvPr/>
        </p:nvSpPr>
        <p:spPr>
          <a:xfrm>
            <a:off x="10012680" y="548640"/>
            <a:ext cx="54864" cy="54864"/>
          </a:xfrm>
          <a:prstGeom prst="rect">
            <a:avLst/>
          </a:prstGeom>
          <a:solidFill>
            <a:srgbClr val="3DDC97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548640"/>
            <a:ext cx="54864" cy="54864"/>
          </a:xfrm>
          <a:prstGeom prst="rect">
            <a:avLst/>
          </a:prstGeom>
          <a:solidFill>
            <a:srgbClr val="3DDC97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652760" y="548640"/>
            <a:ext cx="54864" cy="54864"/>
          </a:xfrm>
          <a:prstGeom prst="rect">
            <a:avLst/>
          </a:prstGeom>
          <a:solidFill>
            <a:srgbClr val="3DDC97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0" y="548640"/>
            <a:ext cx="54864" cy="54864"/>
          </a:xfrm>
          <a:prstGeom prst="rect">
            <a:avLst/>
          </a:prstGeom>
          <a:solidFill>
            <a:srgbClr val="3DDC97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292840" y="548640"/>
            <a:ext cx="54864" cy="54864"/>
          </a:xfrm>
          <a:prstGeom prst="rect">
            <a:avLst/>
          </a:prstGeom>
          <a:solidFill>
            <a:srgbClr val="3DDC97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488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HAYABUSA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Rule Sampler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proof of concept: three Sigma-based rules from Hayabusa's built-in detection library, examined in detail.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4434840"/>
            <a:ext cx="0" cy="0"/>
          </a:xfrm>
          <a:prstGeom prst="line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640080" y="5760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5C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4,961 RULES INDEXED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6080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SIGMA + HAYABUSA BUILT-IN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HAYABUSA DETECTION ENGINE  ·  PROOF OF CONCEPT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Hayabusa?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A9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Hayabusa is a Windows event-log analysis tool that runs a large library of Sigma detection rules against EVTX files to surface suspicious or malicious activity.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12181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8716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4,961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A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RULES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97480" y="233172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12181F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248716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9748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A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 LEVELS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233172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12181F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48716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5488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A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SPOTLIGHTED TODAY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49440" y="1188720"/>
            <a:ext cx="4572000" cy="2788920"/>
          </a:xfrm>
          <a:prstGeom prst="roundRect">
            <a:avLst>
              <a:gd name="adj" fmla="val 2623"/>
            </a:avLst>
          </a:prstGeom>
          <a:solidFill>
            <a:srgbClr val="12181F"/>
          </a:solidFill>
          <a:ln/>
        </p:spPr>
      </p:sp>
      <p:sp>
        <p:nvSpPr>
          <p:cNvPr id="16" name="Text 14"/>
          <p:cNvSpPr/>
          <p:nvPr/>
        </p:nvSpPr>
        <p:spPr>
          <a:xfrm>
            <a:off x="726948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8A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 SCALE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69480" y="1865376"/>
            <a:ext cx="146304" cy="146304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8" name="Text 16"/>
          <p:cNvSpPr/>
          <p:nvPr/>
        </p:nvSpPr>
        <p:spPr>
          <a:xfrm>
            <a:off x="7543800" y="1810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69480" y="2267712"/>
            <a:ext cx="146304" cy="146304"/>
          </a:xfrm>
          <a:prstGeom prst="ellipse">
            <a:avLst/>
          </a:prstGeom>
          <a:solidFill>
            <a:srgbClr val="FF5C38"/>
          </a:solidFill>
          <a:ln/>
        </p:spPr>
      </p:sp>
      <p:sp>
        <p:nvSpPr>
          <p:cNvPr id="20" name="Text 18"/>
          <p:cNvSpPr/>
          <p:nvPr/>
        </p:nvSpPr>
        <p:spPr>
          <a:xfrm>
            <a:off x="7543800" y="22128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69480" y="2670048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7543800" y="26151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69480" y="3072384"/>
            <a:ext cx="146304" cy="14630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4" name="Text 22"/>
          <p:cNvSpPr/>
          <p:nvPr/>
        </p:nvSpPr>
        <p:spPr>
          <a:xfrm>
            <a:off x="754380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69480" y="3474720"/>
            <a:ext cx="146304" cy="146304"/>
          </a:xfrm>
          <a:prstGeom prst="ellipse">
            <a:avLst/>
          </a:prstGeom>
          <a:solidFill>
            <a:srgbClr val="5B7A8C"/>
          </a:solidFill>
          <a:ln/>
        </p:spPr>
      </p:sp>
      <p:sp>
        <p:nvSpPr>
          <p:cNvPr id="26" name="Text 24"/>
          <p:cNvSpPr/>
          <p:nvPr/>
        </p:nvSpPr>
        <p:spPr>
          <a:xfrm>
            <a:off x="7543800" y="34198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INFORMATIONAL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3977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8A9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three rules are drawn from different corners of the library — credential theft, offensive tooling, and ransomware — to show the range of what Hayabusa catches.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HAYABUSA DETECTION ENGINE  ·  PROOF OF CONCEPT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 SPOTLIGHT · 1 OF 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149840" y="41148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/>
        </p:spPr>
      </p:sp>
      <p:sp>
        <p:nvSpPr>
          <p:cNvPr id="6" name="Text 4"/>
          <p:cNvSpPr/>
          <p:nvPr/>
        </p:nvSpPr>
        <p:spPr>
          <a:xfrm>
            <a:off x="10149840" y="411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A0E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0467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Dumping by LaZagne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1572768"/>
            <a:ext cx="6583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9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LSASS process access consistent with LaZagne, an open-source tool that recovers passwords stored locally by browsers, mail clients, Wi-Fi profiles, and other applications.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6583680" cy="2331720"/>
          </a:xfrm>
          <a:prstGeom prst="roundRect">
            <a:avLst>
              <a:gd name="adj" fmla="val 3137"/>
            </a:avLst>
          </a:prstGeom>
          <a:solidFill>
            <a:srgbClr val="12181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 ID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350215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27b30e6e-16ce-9736-fb38-a7e3ce4a693b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39136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SOURCE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416966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 / process_access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931920" y="39136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931920" y="416966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stable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46177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 PATH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487375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sigma/sysmon/deprecated/proc_access_win_lazagne_cred_dump_lsass_access.yml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52360" y="3063240"/>
            <a:ext cx="4069080" cy="2331720"/>
          </a:xfrm>
          <a:prstGeom prst="roundRect">
            <a:avLst>
              <a:gd name="adj" fmla="val 3137"/>
            </a:avLst>
          </a:prstGeom>
          <a:solidFill>
            <a:srgbClr val="12181F"/>
          </a:solidFill>
          <a:ln/>
        </p:spPr>
      </p:sp>
      <p:sp>
        <p:nvSpPr>
          <p:cNvPr id="19" name="Text 17"/>
          <p:cNvSpPr/>
          <p:nvPr/>
        </p:nvSpPr>
        <p:spPr>
          <a:xfrm>
            <a:off x="7726680" y="3246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MITRE ATT&amp;CK TAGS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726680" y="3611880"/>
            <a:ext cx="3566160" cy="329184"/>
          </a:xfrm>
          <a:prstGeom prst="roundRect">
            <a:avLst>
              <a:gd name="adj" fmla="val 50000"/>
            </a:avLst>
          </a:prstGeom>
          <a:solidFill>
            <a:srgbClr val="1A2129"/>
          </a:solidFill>
          <a:ln/>
        </p:spPr>
      </p:sp>
      <p:sp>
        <p:nvSpPr>
          <p:cNvPr id="21" name="Text 19"/>
          <p:cNvSpPr/>
          <p:nvPr/>
        </p:nvSpPr>
        <p:spPr>
          <a:xfrm>
            <a:off x="7726680" y="361188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attack.credential-access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26680" y="4032504"/>
            <a:ext cx="3566160" cy="329184"/>
          </a:xfrm>
          <a:prstGeom prst="roundRect">
            <a:avLst>
              <a:gd name="adj" fmla="val 50000"/>
            </a:avLst>
          </a:prstGeom>
          <a:solidFill>
            <a:srgbClr val="1A2129"/>
          </a:solidFill>
          <a:ln/>
        </p:spPr>
      </p:sp>
      <p:sp>
        <p:nvSpPr>
          <p:cNvPr id="23" name="Text 21"/>
          <p:cNvSpPr/>
          <p:nvPr/>
        </p:nvSpPr>
        <p:spPr>
          <a:xfrm>
            <a:off x="7726680" y="403250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attack.t1003.001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26680" y="4453128"/>
            <a:ext cx="2779776" cy="329184"/>
          </a:xfrm>
          <a:prstGeom prst="roundRect">
            <a:avLst>
              <a:gd name="adj" fmla="val 50000"/>
            </a:avLst>
          </a:prstGeom>
          <a:solidFill>
            <a:srgbClr val="1A2129"/>
          </a:solidFill>
          <a:ln/>
        </p:spPr>
      </p:sp>
      <p:sp>
        <p:nvSpPr>
          <p:cNvPr id="25" name="Text 23"/>
          <p:cNvSpPr/>
          <p:nvPr/>
        </p:nvSpPr>
        <p:spPr>
          <a:xfrm>
            <a:off x="7726680" y="4453128"/>
            <a:ext cx="27797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attack.s0349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26680" y="4873752"/>
            <a:ext cx="1572768" cy="329184"/>
          </a:xfrm>
          <a:prstGeom prst="roundRect">
            <a:avLst>
              <a:gd name="adj" fmla="val 50000"/>
            </a:avLst>
          </a:prstGeom>
          <a:solidFill>
            <a:srgbClr val="1A2129"/>
          </a:solidFill>
          <a:ln/>
        </p:spPr>
      </p:sp>
      <p:sp>
        <p:nvSpPr>
          <p:cNvPr id="27" name="Text 25"/>
          <p:cNvSpPr/>
          <p:nvPr/>
        </p:nvSpPr>
        <p:spPr>
          <a:xfrm>
            <a:off x="7726680" y="487375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sysmon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56235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 LSASS holds cached credentials in memory — any unusual process reaching into it is a strong signal of credential theft, often a precursor to lateral movement.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HAYABUSA DETECTION ENGINE  ·  PROOF OF CONCEPT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 SPOTLIGHT · 2 OF 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149840" y="41148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/>
        </p:spPr>
      </p:sp>
      <p:sp>
        <p:nvSpPr>
          <p:cNvPr id="6" name="Text 4"/>
          <p:cNvSpPr/>
          <p:nvPr/>
        </p:nvSpPr>
        <p:spPr>
          <a:xfrm>
            <a:off x="10149840" y="411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A0E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0467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HackTool – Rubeus Execution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1572768"/>
            <a:ext cx="6583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9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command-line and PE-metadata fingerprints of Rubeus, a widely used offensive tool for abusing Kerberos — ticket harvesting, forging, and relaying for credential access and lateral movement.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6583680" cy="2331720"/>
          </a:xfrm>
          <a:prstGeom prst="roundRect">
            <a:avLst>
              <a:gd name="adj" fmla="val 3137"/>
            </a:avLst>
          </a:prstGeom>
          <a:solidFill>
            <a:srgbClr val="12181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 ID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350215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be670d5c-31eb-7391-4d2e-d122c89cd5bb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39136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SOURCE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416966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 / process_creation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931920" y="39136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931920" y="416966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stable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46177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 PATH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487375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sigma/builtin/process_creation/proc_creation_win_hktl_rubeus.yml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52360" y="3063240"/>
            <a:ext cx="4069080" cy="2331720"/>
          </a:xfrm>
          <a:prstGeom prst="roundRect">
            <a:avLst>
              <a:gd name="adj" fmla="val 3137"/>
            </a:avLst>
          </a:prstGeom>
          <a:solidFill>
            <a:srgbClr val="12181F"/>
          </a:solidFill>
          <a:ln/>
        </p:spPr>
      </p:sp>
      <p:sp>
        <p:nvSpPr>
          <p:cNvPr id="19" name="Text 17"/>
          <p:cNvSpPr/>
          <p:nvPr/>
        </p:nvSpPr>
        <p:spPr>
          <a:xfrm>
            <a:off x="7726680" y="3246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MITRE ATT&amp;CK TAGS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726680" y="3611880"/>
            <a:ext cx="3566160" cy="329184"/>
          </a:xfrm>
          <a:prstGeom prst="roundRect">
            <a:avLst>
              <a:gd name="adj" fmla="val 50000"/>
            </a:avLst>
          </a:prstGeom>
          <a:solidFill>
            <a:srgbClr val="1A2129"/>
          </a:solidFill>
          <a:ln/>
        </p:spPr>
      </p:sp>
      <p:sp>
        <p:nvSpPr>
          <p:cNvPr id="21" name="Text 19"/>
          <p:cNvSpPr/>
          <p:nvPr/>
        </p:nvSpPr>
        <p:spPr>
          <a:xfrm>
            <a:off x="7726680" y="361188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attack.credential-access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26680" y="4032504"/>
            <a:ext cx="2779776" cy="329184"/>
          </a:xfrm>
          <a:prstGeom prst="roundRect">
            <a:avLst>
              <a:gd name="adj" fmla="val 50000"/>
            </a:avLst>
          </a:prstGeom>
          <a:solidFill>
            <a:srgbClr val="1A2129"/>
          </a:solidFill>
          <a:ln/>
        </p:spPr>
      </p:sp>
      <p:sp>
        <p:nvSpPr>
          <p:cNvPr id="23" name="Text 21"/>
          <p:cNvSpPr/>
          <p:nvPr/>
        </p:nvSpPr>
        <p:spPr>
          <a:xfrm>
            <a:off x="7726680" y="4032504"/>
            <a:ext cx="27797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attack.t1003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26680" y="4453128"/>
            <a:ext cx="3566160" cy="329184"/>
          </a:xfrm>
          <a:prstGeom prst="roundRect">
            <a:avLst>
              <a:gd name="adj" fmla="val 50000"/>
            </a:avLst>
          </a:prstGeom>
          <a:solidFill>
            <a:srgbClr val="1A2129"/>
          </a:solidFill>
          <a:ln/>
        </p:spPr>
      </p:sp>
      <p:sp>
        <p:nvSpPr>
          <p:cNvPr id="25" name="Text 23"/>
          <p:cNvSpPr/>
          <p:nvPr/>
        </p:nvSpPr>
        <p:spPr>
          <a:xfrm>
            <a:off x="7726680" y="445312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attack.t1558.003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26680" y="4873752"/>
            <a:ext cx="3566160" cy="329184"/>
          </a:xfrm>
          <a:prstGeom prst="roundRect">
            <a:avLst>
              <a:gd name="adj" fmla="val 50000"/>
            </a:avLst>
          </a:prstGeom>
          <a:solidFill>
            <a:srgbClr val="1A2129"/>
          </a:solidFill>
          <a:ln/>
        </p:spPr>
      </p:sp>
      <p:sp>
        <p:nvSpPr>
          <p:cNvPr id="27" name="Text 25"/>
          <p:cNvSpPr/>
          <p:nvPr/>
        </p:nvSpPr>
        <p:spPr>
          <a:xfrm>
            <a:off x="7726680" y="487375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attack.lateral-movement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26680" y="5294376"/>
            <a:ext cx="3566160" cy="329184"/>
          </a:xfrm>
          <a:prstGeom prst="roundRect">
            <a:avLst>
              <a:gd name="adj" fmla="val 50000"/>
            </a:avLst>
          </a:prstGeom>
          <a:solidFill>
            <a:srgbClr val="1A2129"/>
          </a:solidFill>
          <a:ln/>
        </p:spPr>
      </p:sp>
      <p:sp>
        <p:nvSpPr>
          <p:cNvPr id="29" name="Text 27"/>
          <p:cNvSpPr/>
          <p:nvPr/>
        </p:nvSpPr>
        <p:spPr>
          <a:xfrm>
            <a:off x="7726680" y="529437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attack.t1550.003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56235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 Rubeus is a staple of red-team and adversary Kerberoasting/pass-the-ticket playbooks — its appearance almost always warrants immediate investigation.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HAYABUSA DETECTION ENGINE  ·  PROOF OF CONCEPT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 SPOTLIGHT · 3 OF 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149840" y="41148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/>
        </p:spPr>
      </p:sp>
      <p:sp>
        <p:nvSpPr>
          <p:cNvPr id="6" name="Text 4"/>
          <p:cNvSpPr/>
          <p:nvPr/>
        </p:nvSpPr>
        <p:spPr>
          <a:xfrm>
            <a:off x="10149840" y="411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A0E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0467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DarkSide Ransomware Pattern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1572768"/>
            <a:ext cx="6583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9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process-creation patterns associated with DarkSide ransomware and its helper binaries — the same ransomware family behind the 2021 Colonial Pipeline incident.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6583680" cy="2331720"/>
          </a:xfrm>
          <a:prstGeom prst="roundRect">
            <a:avLst>
              <a:gd name="adj" fmla="val 3137"/>
            </a:avLst>
          </a:prstGeom>
          <a:solidFill>
            <a:srgbClr val="12181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 ID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350215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29b10082-a29d-5f77-a7da-8ef6d105ab32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39136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SOURCE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416966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 / process_creation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931920" y="39136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931920" y="416966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46177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 PATH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487375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sigma/builtin/emerging-threats/2021/Malware/DarkSide/proc_creation_win_malware_darkside_ransomware.yml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52360" y="3063240"/>
            <a:ext cx="4069080" cy="2331720"/>
          </a:xfrm>
          <a:prstGeom prst="roundRect">
            <a:avLst>
              <a:gd name="adj" fmla="val 3137"/>
            </a:avLst>
          </a:prstGeom>
          <a:solidFill>
            <a:srgbClr val="12181F"/>
          </a:solidFill>
          <a:ln/>
        </p:spPr>
      </p:sp>
      <p:sp>
        <p:nvSpPr>
          <p:cNvPr id="19" name="Text 17"/>
          <p:cNvSpPr/>
          <p:nvPr/>
        </p:nvSpPr>
        <p:spPr>
          <a:xfrm>
            <a:off x="7726680" y="3246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MITRE ATT&amp;CK TAGS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726680" y="3611880"/>
            <a:ext cx="3566160" cy="329184"/>
          </a:xfrm>
          <a:prstGeom prst="roundRect">
            <a:avLst>
              <a:gd name="adj" fmla="val 50000"/>
            </a:avLst>
          </a:prstGeom>
          <a:solidFill>
            <a:srgbClr val="1A2129"/>
          </a:solidFill>
          <a:ln/>
        </p:spPr>
      </p:sp>
      <p:sp>
        <p:nvSpPr>
          <p:cNvPr id="21" name="Text 19"/>
          <p:cNvSpPr/>
          <p:nvPr/>
        </p:nvSpPr>
        <p:spPr>
          <a:xfrm>
            <a:off x="7726680" y="361188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attack.execution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26680" y="4032504"/>
            <a:ext cx="2779776" cy="329184"/>
          </a:xfrm>
          <a:prstGeom prst="roundRect">
            <a:avLst>
              <a:gd name="adj" fmla="val 50000"/>
            </a:avLst>
          </a:prstGeom>
          <a:solidFill>
            <a:srgbClr val="1A2129"/>
          </a:solidFill>
          <a:ln/>
        </p:spPr>
      </p:sp>
      <p:sp>
        <p:nvSpPr>
          <p:cNvPr id="23" name="Text 21"/>
          <p:cNvSpPr/>
          <p:nvPr/>
        </p:nvSpPr>
        <p:spPr>
          <a:xfrm>
            <a:off x="7726680" y="4032504"/>
            <a:ext cx="27797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attack.t1204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26680" y="4453128"/>
            <a:ext cx="3566160" cy="329184"/>
          </a:xfrm>
          <a:prstGeom prst="roundRect">
            <a:avLst>
              <a:gd name="adj" fmla="val 50000"/>
            </a:avLst>
          </a:prstGeom>
          <a:solidFill>
            <a:srgbClr val="1A2129"/>
          </a:solidFill>
          <a:ln/>
        </p:spPr>
      </p:sp>
      <p:sp>
        <p:nvSpPr>
          <p:cNvPr id="25" name="Text 23"/>
          <p:cNvSpPr/>
          <p:nvPr/>
        </p:nvSpPr>
        <p:spPr>
          <a:xfrm>
            <a:off x="7726680" y="445312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detection.emerging-threats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56235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 ransomware detections are late-stage alerts — by the time this fires, the priority shifts from prevention to immediate containment and isolation.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HAYABUSA DETECTION ENGINE  ·  PROOF OF CONCEPT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engine, three very different threats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9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Hayabusa scan can surface credential theft, offensive tooling, and ransomware in one pass — because all three ultimately leave traces in the same Windows event logs.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63440" y="2148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49440" y="2148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ATT&amp;CK PHASE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0" y="21488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SOURCE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560320"/>
            <a:ext cx="11155680" cy="566928"/>
          </a:xfrm>
          <a:prstGeom prst="rect">
            <a:avLst/>
          </a:prstGeom>
          <a:solidFill>
            <a:srgbClr val="0A0E1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6032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Dumping by LaZagne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256032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Theft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49440" y="256032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Access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0" y="256032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process_access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127248"/>
            <a:ext cx="11155680" cy="566928"/>
          </a:xfrm>
          <a:prstGeom prst="rect">
            <a:avLst/>
          </a:prstGeom>
          <a:solidFill>
            <a:srgbClr val="12181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2724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HackTool – Rubeus Execution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312724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Offensive Tooling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49440" y="312724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Access / Lateral Movement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0" y="312724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process_creation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694176"/>
            <a:ext cx="11155680" cy="566928"/>
          </a:xfrm>
          <a:prstGeom prst="rect">
            <a:avLst/>
          </a:prstGeom>
          <a:solidFill>
            <a:srgbClr val="0A0E1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694176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DarkSide Ransomware Pattern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3440" y="3694176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Ransomware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49440" y="3694176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/ Impact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0" y="369417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process_creation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892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point Hayabusa at a real EVTX export to see these rules fire against live data.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2026-07-12T18:25:45Z</dcterms:created>
  <dcterms:modified xsi:type="dcterms:W3CDTF">2026-07-12T18:25:45Z</dcterms:modified>
</cp:coreProperties>
</file>